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tagline. Frame: this is not a website project — it is moving the practice from "email and wait" to an intelligent quote platform, live in 2–3 months, for R500k–R750k.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Acknowledge the strengths first: 20 years of advisory trust, broad product set. The constraint is operational: email-based quoting and no conversational channel. The site audit found immediate quick wins we ship in week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signals converge: customers live in conversational channels, the rails now exist via APIs, and capital has validated digital insurance in SA. Direct insurtechs sell one balance sheet; aggregators sell leads. An FSP-backed platform can compare the market AND advise.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architectural idea: we do not build three products. One journey, one core, three doors in. A client can start on WhatsApp and finish with the advisor without repeating themselves. AI operates inside FAIS/POPIA guardrails; advice stays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R500k–R750k, live in 2–3 months, all three channels, including a custom-built CRM the client owns outright. Emphasise that Phase 2 is deliberately unpriced — scoped on measured conversion data,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"why can others not do it for this price": most agencies build three products and a custom back office. We make four disciplined scope calls and spend the budget on what differentiates — the journey and the quote plumbing.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strategic decision: launch never waits for the slowest insurer. Verified August 2026: Nedbank publishes a short-term API; Root, Genasys, Brolink expose quote endpoints; the traditional majors are portal-only — handled by automated workflow that already saves hours 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FSP client this slide is the trust-maker. The practice operates under Masthead FSP 43435 — their compliance function is engaged from week 1. AI can explain, collect, compare and prepare; it never advises, never decides claims, never makes automated decisions with significant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 scope, one quarter. Flag the internal win at week 7–10: the automated workflow replaces manual quote email internally before public launch — immediate time savings the client feels personally.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Envelopes firmed into a fixed-scope SOW at the end of Sprint 0. The custom CRM means no per-seat licence fees ever — the flat R50k/month covers hosting, licences, usage, support and continuous improvement, reviewed annually.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ROI conservatively: against a R50-trillion cover gap, these are modest capture assumptions. Sprint 0 replaces this framing with a model built on the practice’s actual book and conversion baselines. Monthly scorecard + a post-launch gate before Phase 2 keeps spend following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decision on step 4 — the Sprint 0 commitment is small (R80k–R120k) and de-risks everything after. Steps 1–3 can start immediately on a handshake.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story, not the tech. The hardest asset to replicate is Marlin Moodley’s trusted-advice brand — everything in this proposal is engineering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94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PROPOSAL · CONFIDENTIAL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14173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261872"/>
            <a:ext cx="1179576" cy="1179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9875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Insurance Platform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434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conversation.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policy. Every channel.</a:t>
            </a:r>
            <a:pPr indent="0" marL="0">
              <a:buNone/>
            </a:pPr>
            <a:r>
              <a:rPr lang="en-US" sz="2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9834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Launch Edition — quote journeys live on web, app and WhatsApp in 2–3 months.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5806440"/>
            <a:ext cx="10725912" cy="0"/>
          </a:xfrm>
          <a:prstGeom prst="line">
            <a:avLst/>
          </a:prstGeom>
          <a:noFill/>
          <a:ln w="9525">
            <a:solidFill>
              <a:srgbClr val="5577A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9893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spc="200" kern="0" dirty="0">
                <a:solidFill>
                  <a:srgbClr val="9DB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
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— Senior Executive Financial Advisor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5989320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spc="200" kern="0" dirty="0">
                <a:solidFill>
                  <a:srgbClr val="9DB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
</a:t>
            </a:r>
            <a:pPr algn="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Digital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an email — and a wait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5" name="Image 0" descr="ic-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556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quoting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0756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is emailed to 3–6 insurers, chased by hand, re-keyed into comparisons. Days pass before the client sees numbers.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62072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9" name="Image 1" descr="ic-ms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300947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conversational channel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1546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WhatsApp presence at all — in the market where WhatsApp is the dominant customer channel (±29m South Africans).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13" name="Image 2" descr="ic-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408846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3913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ceiling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42336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bounded by one inbox and one calendar. Trusted advice since 2004 — but it cannot scale as-is.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92240" y="1783080"/>
            <a:ext cx="5148072" cy="4206240"/>
          </a:xfrm>
          <a:prstGeom prst="roundRect">
            <a:avLst>
              <a:gd name="adj" fmla="val 195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85800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5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858000" y="237744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→ email trail → wait days → hand-built comparison → paper-heavy onboarding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858000" y="3429000"/>
            <a:ext cx="4434840" cy="0"/>
          </a:xfrm>
          <a:prstGeom prst="line">
            <a:avLst/>
          </a:prstGeom>
          <a:noFill/>
          <a:ln w="12700">
            <a:solidFill>
              <a:srgbClr val="DFE4E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858000" y="393192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on any channel → quotes from every connected insurer in minutes → advisor advises from a complete file → digital onboarding &amp; servicing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4864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 already identified: fix broken contact paths, publish compliance pages, add WhatsApp click-to-chat — shipped in week one.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wide open — and moving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88336" cy="1737360"/>
          </a:xfrm>
          <a:prstGeom prst="roundRect">
            <a:avLst>
              <a:gd name="adj" fmla="val 473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R50.4trn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871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life &amp; disability cover gap — widening 12.5% a year (ASISA, 2025)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19856" y="1691640"/>
            <a:ext cx="2688336" cy="1737360"/>
          </a:xfrm>
          <a:prstGeom prst="roundRect">
            <a:avLst>
              <a:gd name="adj" fmla="val 473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21024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±29m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24871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Africans on WhatsApp — the country’s most-used platform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2688336" cy="1737360"/>
          </a:xfrm>
          <a:prstGeom prst="roundRect">
            <a:avLst>
              <a:gd name="adj" fmla="val 473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R154bn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4871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Non-life insurance revenue FY2024, up 9.8% (KPMG survey)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62288" y="1691640"/>
            <a:ext cx="2688336" cy="1737360"/>
          </a:xfrm>
          <a:prstGeom prst="roundRect">
            <a:avLst>
              <a:gd name="adj" fmla="val 473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63456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&lt;7 min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63456" y="24871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1Life’s 2026 WhatsApp journey: quote to active policy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530352" cy="530352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17" name="Image 0" descr="ic-ms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3932652"/>
            <a:ext cx="254569" cy="254569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44805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moved into WhatsApp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1Life, MTN×Sanlam and Sanlam self-service set the conversational bar for every product line.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89120" y="3794760"/>
            <a:ext cx="530352" cy="530352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21" name="Image 1" descr="ic-z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012" y="3932652"/>
            <a:ext cx="254569" cy="25456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89120" y="44805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APIs opened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4389120" y="49834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Nedbank publishes a short-term insurance API; Root, Genasys and Brolink expose hundreds of quote-and-policy endpoints.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8229600" y="3794760"/>
            <a:ext cx="530352" cy="530352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25" name="Image 2" descr="ic-tr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492" y="3932652"/>
            <a:ext cx="254569" cy="254569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29600" y="44805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models are proven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229600" y="49834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Naked ($17m, IFC-led) and Pineapple (R400m) validated digital distribution — advice-led intermediaries are the open gap.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Three doors in.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meet a single Marlin Moodley experience on the channel they prefer. Underneath, one shared core orchestrates insurers, documents and compliance.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10543032" cy="749808"/>
          </a:xfrm>
          <a:prstGeom prst="roundRect">
            <a:avLst>
              <a:gd name="adj" fmla="val 9756"/>
            </a:avLst>
          </a:prstGeom>
          <a:solidFill>
            <a:srgbClr val="09016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33172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9C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CHANNELS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5877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/ PWA   ·   App (installed PWA)   ·   WhatsApp   ·   Human advisor in the loop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136392"/>
            <a:ext cx="10543032" cy="749808"/>
          </a:xfrm>
          <a:prstGeom prst="roundRect">
            <a:avLst>
              <a:gd name="adj" fmla="val 9756"/>
            </a:avLst>
          </a:prstGeom>
          <a:solidFill>
            <a:srgbClr val="003F8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22783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9C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CONVERSATIONAL JOURNEY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8386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analysis → quote → follow-up — designed once, rendered on every channel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0543032" cy="749808"/>
          </a:xfrm>
          <a:prstGeom prst="roundRect">
            <a:avLst>
              <a:gd name="adj" fmla="val 9756"/>
            </a:avLst>
          </a:prstGeom>
          <a:solidFill>
            <a:srgbClr val="00509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12394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9C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37997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records &amp; consent   ·   Quote cases &amp; SLAs   ·   Document vault   ·   CRM advisor workspace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4928616"/>
            <a:ext cx="10543032" cy="749808"/>
          </a:xfrm>
          <a:prstGeom prst="roundRect">
            <a:avLst>
              <a:gd name="adj" fmla="val 9756"/>
            </a:avLst>
          </a:prstGeom>
          <a:solidFill>
            <a:srgbClr val="3354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5020056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9C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 CONNECTIVITY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527608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real-time APIs   ·   Tier B platform quotes   ·   Tier C automated email workflow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704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 — explains, gathers, compares, prepares. The licensed advisor advises. Always.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Launch Edition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FA5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R500k–R750k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BUILD INVESTMENT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FA5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48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months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KICK-OFF TO LIVE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FA5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03920" y="2148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channels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APP · WHATSAPP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8862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comparative short-term quotes via an established broker admin platform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life-quote workflow with tracked status — no more email-and-wait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Custom-built CRM advisor workspace — owned, licence-free, with document vault and full FAIS record-keeping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R50k per month for hosting, support &amp; maintenance from launch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806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3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native app, AI agent suite, Customer 360 intelligence, predictive analytics — is scoped and priced on real launch data.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R1M IS POSSIBLE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deliberate scope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2239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512064" cy="512064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6" name="Image 0" descr="ic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2080809"/>
            <a:ext cx="245791" cy="24579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PWA is the app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6243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installable Progressive Web App — home-screen icon, push notifications — delivers “web” and “app” from one codebase. Optional app-store wrapper ±R60k–R100k; native app is Phase 2.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42239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1947672"/>
            <a:ext cx="512064" cy="512064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11" name="Image 1" descr="ic-rep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089" y="208080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9659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One journey, rendered twice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10528" y="26243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capture → quote → follow-up is designed once as a conversational flow, delivered on web/PWA and WhatsApp. No per-channel builds, no divergent logic.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42239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233672"/>
            <a:ext cx="512064" cy="512064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16" name="Image 2" descr="ic-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809" y="436680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42519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Ride an existing quote backbone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49103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orchestration engine yet. One broker admin platform (Brolink / OWLS / Genasys) supplies real-time short-term quotes; life runs on the automated workflow with tracked status.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17920" y="3977640"/>
            <a:ext cx="542239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4233672"/>
            <a:ext cx="512064" cy="512064"/>
          </a:xfrm>
          <a:prstGeom prst="ellipse">
            <a:avLst/>
          </a:prstGeom>
          <a:solidFill>
            <a:srgbClr val="003F88"/>
          </a:solidFill>
          <a:ln/>
        </p:spPr>
      </p:sp>
      <p:pic>
        <p:nvPicPr>
          <p:cNvPr id="21" name="Image 3" descr="ic-gr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089" y="436680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78040" y="42519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Own the back office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10528" y="49103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custom-built CRM is the advisor workspace — pipeline, cases, WhatsApp inbox threaded per client, encrypted document vault. No licence fees, one data model, reusable IP.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QUOTES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tiers. One experience.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1225296"/>
          </a:xfrm>
          <a:prstGeom prst="roundRect">
            <a:avLst>
              <a:gd name="adj" fmla="val 6716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548640" cy="548640"/>
          </a:xfrm>
          <a:prstGeom prst="ellipse">
            <a:avLst/>
          </a:prstGeom>
          <a:solidFill>
            <a:srgbClr val="1E7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API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comparative quotes in minutes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8562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Nedbank API · Root · Genasys · Brolink Websure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313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E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LAUNCH (SHORT-TERM)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081528"/>
            <a:ext cx="11091672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3419856"/>
            <a:ext cx="548640" cy="548640"/>
          </a:xfrm>
          <a:prstGeom prst="ellipse">
            <a:avLst/>
          </a:prstGeom>
          <a:solidFill>
            <a:srgbClr val="2066C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4198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/ platform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3630168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Near-real-time — “expect quotes within X hours,” tracked live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46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OWLS · Cardinal · SSP admin platforms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06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ADMIN PLATFORM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471416"/>
            <a:ext cx="11091672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4809744"/>
            <a:ext cx="548640" cy="548640"/>
          </a:xfrm>
          <a:prstGeom prst="ellipse">
            <a:avLst/>
          </a:prstGeom>
          <a:solidFill>
            <a:srgbClr val="B3551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46360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portal only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02005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workflow — structured request sent, chased and parsed automatically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46360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Santam · Old Mutual · Hollard · Discovery · life houses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5093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5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MANUAL EMAIL ON DAY ONE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sees one experience; the platform handles the complexity underneath. As insurers modernise, they move up a tier — with no customer-facing change.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is designed in, not bolted 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22392" cy="1792224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938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6" name="Image 0" descr="ic-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054" y="2057766"/>
            <a:ext cx="237012" cy="2370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659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551176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separation between factual information (digital) and advice (advisor-only); needs analysis before advice; records of advice archived per interaction.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422392" cy="1792224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192938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11" name="Image 1" descr="ic-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334" y="2057766"/>
            <a:ext cx="237012" cy="2370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9659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10528" y="2551176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Purpose-level consent, opt-in marketing (s69), no solely automated decisions with significant effect (s71), encrypted identity documents.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685032"/>
            <a:ext cx="5422392" cy="1792224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922776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16" name="Image 2" descr="ic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054" y="4051158"/>
            <a:ext cx="237012" cy="2370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9593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TCF &amp; PPRs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454456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fair-treatment outcomes instrumented in journeys and dashboards; disclosure templates versioned per product and channel.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17920" y="3685032"/>
            <a:ext cx="5422392" cy="1792224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922776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21" name="Image 3" descr="ic-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334" y="4051158"/>
            <a:ext cx="237012" cy="2370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9593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COFI-ready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10528" y="454456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Activity-based data model and audit trails position the platform for the incoming COFI framework without rework.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DF7EA"/>
          </a:solidFill>
          <a:ln w="12700">
            <a:solidFill>
              <a:srgbClr val="E7D9B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790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7C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0, week 1: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with Masthead Financial Planning (FSP 43435) to sign off journeys, AI guardrails and record-keeping — before a line of code is written.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months to live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292608"/>
          </a:xfrm>
          <a:prstGeom prst="roundRect">
            <a:avLst>
              <a:gd name="adj" fmla="val 15625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20240"/>
            <a:ext cx="1828800" cy="292608"/>
          </a:xfrm>
          <a:prstGeom prst="roundRect">
            <a:avLst>
              <a:gd name="adj" fmla="val 15625"/>
            </a:avLst>
          </a:prstGeom>
          <a:solidFill>
            <a:srgbClr val="003F88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1920240"/>
            <a:ext cx="7406640" cy="292608"/>
          </a:xfrm>
          <a:prstGeom prst="roundRect">
            <a:avLst>
              <a:gd name="adj" fmla="val 15625"/>
            </a:avLst>
          </a:prstGeom>
          <a:solidFill>
            <a:srgbClr val="00509D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1920240"/>
            <a:ext cx="1856232" cy="292608"/>
          </a:xfrm>
          <a:prstGeom prst="roundRect">
            <a:avLst>
              <a:gd name="adj" fmla="val 15625"/>
            </a:avLst>
          </a:prstGeom>
          <a:solidFill>
            <a:srgbClr val="B98D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95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8833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00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sign-off pack · vendors contracted (admin platform, CRM, WhatsApp BSP) · POPIA essentials · quick-win site fixes live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3957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50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68833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Web/PWA quote journey · WhatsApp journeys with document upload · admin-platform integration + automated life workflow · custom CRM &amp; document vault · hardening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239572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688336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200400"/>
            <a:ext cx="3593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UAT on all channels · pen check · final compliance sign-off · base activation: “your advisor, now on WhatsApp” · go-live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5230368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is commercial, not code.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Meta’s WhatsApp verification, the admin platform’s onboarding and Masthead’s sign-off all start day one, in parallel with the build. Phase 2 — native app, AI agent suite, Customer 360, analytics — is scoped on ~90 days of live data.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investment goes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 — compliance &amp; setup (2 wks)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1627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R50k – R70k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1109167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57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Web/PWA quote experience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1579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R140k – R200k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615184"/>
            <a:ext cx="1109167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8833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channel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68833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R80k – R120k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145536"/>
            <a:ext cx="1109167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186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plumbing (admin platform + automated email workflow)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218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R110k – R160k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675888"/>
            <a:ext cx="1109167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49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CRM, consent, security &amp; tracking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7490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R120k – R200k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206240"/>
            <a:ext cx="1109167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370832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003F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53542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EDITION TOTAL  ·  2–3 MONTHS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4805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R500k – R750k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2880360" cy="868680"/>
          </a:xfrm>
          <a:prstGeom prst="roundRect">
            <a:avLst>
              <a:gd name="adj" fmla="val 9474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" y="5458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8430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licences (CRM owned — no fees)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11880" y="5349240"/>
            <a:ext cx="2880360" cy="868680"/>
          </a:xfrm>
          <a:prstGeom prst="roundRect">
            <a:avLst>
              <a:gd name="adj" fmla="val 9474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794760" y="5458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794760" y="58430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 AI usage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75120" y="5349240"/>
            <a:ext cx="2880360" cy="868680"/>
          </a:xfrm>
          <a:prstGeom prst="roundRect">
            <a:avLst>
              <a:gd name="adj" fmla="val 9474"/>
            </a:avLst>
          </a:prstGeom>
          <a:solidFill>
            <a:srgbClr val="F4F6F9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858000" y="54589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58430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&amp; maintenance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829800" y="542239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fee
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829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R50k /month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RETURN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pay it 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22392" cy="1673352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938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6" name="Image 0" descr="ic-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054" y="2057766"/>
            <a:ext cx="237012" cy="2370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659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capacity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intake, quoting and admin typically releases 40–60% of advisor time — several times the concurrent client journeys.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422392" cy="1673352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192938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11" name="Image 1" descr="ic-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334" y="2057766"/>
            <a:ext cx="237012" cy="2370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9659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&amp; speed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10528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in minutes instead of days collapses drop-off in the leakiest part of today’s funnel.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566160"/>
            <a:ext cx="5422392" cy="1673352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80390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16" name="Image 2" descr="ic-rep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054" y="3932286"/>
            <a:ext cx="237012" cy="2370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8404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wallet share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" y="44074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intelligence and cover-gap analysis turn lapse risk into pre-emptive conversations and structured cross-sell.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17920" y="3566160"/>
            <a:ext cx="5422392" cy="1673352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FE4EA"/>
            </a:solidFill>
            <a:prstDash val="solid"/>
          </a:ln>
          <a:effectLst>
            <a:outerShdw sx="100000" sy="100000" kx="0" ky="0" algn="bl" rotWithShape="0" blurRad="101600" dist="25400" dir="5400000">
              <a:srgbClr val="9AA6B5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803904"/>
            <a:ext cx="493776" cy="493776"/>
          </a:xfrm>
          <a:prstGeom prst="ellipse">
            <a:avLst/>
          </a:prstGeom>
          <a:solidFill>
            <a:srgbClr val="00509D"/>
          </a:solidFill>
          <a:ln/>
        </p:spPr>
      </p:sp>
      <p:pic>
        <p:nvPicPr>
          <p:cNvPr id="21" name="Image 3" descr="ic-tr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334" y="3932286"/>
            <a:ext cx="237012" cy="2370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8404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digital demand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10528" y="440740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instant quotes open segments impossible to serve economically by email.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4864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003F88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868680" y="5650992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3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payback: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additional R300k–R500k in annual recurring commission within 18 months recovers the investment in roughly 15–24 months — while building a systematised, sellable book.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steps, two weeks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848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 session to confirm scope, segments and priorities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18105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5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371600" y="2523744"/>
            <a:ext cx="1026871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97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651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Masthead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9992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session with the licence holder on journeys and guardrails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27249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5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371600" y="3438144"/>
            <a:ext cx="1026871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611880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566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quick wins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9136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contact paths, compliance pages, WhatsApp click-to-chat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966960" y="36393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5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371600" y="4352544"/>
            <a:ext cx="1026871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26280"/>
            <a:ext cx="566928" cy="566928"/>
          </a:xfrm>
          <a:prstGeom prst="ellipse">
            <a:avLst/>
          </a:prstGeom>
          <a:solidFill>
            <a:srgbClr val="B98D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480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Sprint 0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8280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R50k–R70k, 2 weeks: vendors, POPIA, fixed-scope build plan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45537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5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371600" y="5266944"/>
            <a:ext cx="10268712" cy="0"/>
          </a:xfrm>
          <a:prstGeom prst="line">
            <a:avLst/>
          </a:prstGeom>
          <a:noFill/>
          <a:ln w="9525">
            <a:solidFill>
              <a:srgbClr val="DFE4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440680"/>
            <a:ext cx="566928" cy="566928"/>
          </a:xfrm>
          <a:prstGeom prst="ellipse">
            <a:avLst/>
          </a:prstGeom>
          <a:solidFill>
            <a:srgbClr val="003F8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440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394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vendor talks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7424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Nedbank API, one admin platform and the WhatsApp BSP in parallel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966960" y="54681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50" kern="0" dirty="0">
                <a:solidFill>
                  <a:srgbClr val="B98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2–8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10528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Marlin Moodley Digital Insurance Platform</a:t>
            </a:r>
            <a:pPr algn="l" indent="0" marL="0">
              <a:buNone/>
            </a:pPr>
            <a:r>
              <a:rPr lang="en-US" sz="850" dirty="0">
                <a:solidFill>
                  <a:srgbClr val="A8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Move Digital · Confidential · 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practices that move from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“email and wait” to “orchestrate and advise”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own their segments.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977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R50.4 trillion. The channels are open. The APIs exist.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start now.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9525">
            <a:solidFill>
              <a:srgbClr val="5577A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5806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Digital</a:t>
            </a:r>
            <a:pPr indent="0" marL="0">
              <a:buNone/>
            </a:pPr>
            <a:r>
              <a:rPr lang="en-US" sz="1200" dirty="0">
                <a:solidFill>
                  <a:srgbClr val="AE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Digital strategy · Platform engineering · Applied AI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052560" y="5870448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DB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· Confidential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2026-09-01T16:45:48Z</dcterms:created>
  <dcterms:modified xsi:type="dcterms:W3CDTF">2026-09-01T16:45:48Z</dcterms:modified>
</cp:coreProperties>
</file>